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05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C351-5E2E-C0C5-3D05-780CC47AA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7B1F7-DAAD-C7CF-59B8-00D83C626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CD2CD-AD21-C2AB-A828-09215549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2449A-ABC3-C731-1C7C-323FA5B1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95382-65BD-7A23-9597-80183DD8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8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06E9-6778-174F-EB1F-82921DEA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FB43F-E214-D3AE-E8F2-C6D0F4539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C702E-6950-D1DC-60A2-576DB5C7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C739F-289F-EFAE-F015-AB842E91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19574-7158-0E02-6E74-9937A662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2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2083-8DA7-9578-96C6-3850BC58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02DF4-AC7B-91C5-AB9A-0564E0D57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6762F-B871-6083-2B78-CC374769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6B747-3019-F0FC-B05B-C3A1049B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577F1-2D14-7142-D8D7-251150C6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1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A99A3-9982-A84D-6B49-D85CC91A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DAD64-BAD3-4388-460D-0BE382C03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6B935-B96C-FF7B-514E-B6505C12F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1F00B-5733-70A9-E2D4-0EE14971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23E86-6FF3-25EB-8827-DC7CDCDCB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1EE9C-F287-5EC9-BEBF-9154E4CE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2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91B05-B064-9615-AF50-59514B045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5D401-D7D7-89F3-A9C1-575BFA47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5977C-1F5B-66D0-399C-441B6F94B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B990D-FE15-6A5C-E438-0745BC39E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E2F8E-4CDD-AD8D-D8B5-7B4DB8D23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ACC5D-AB7F-6CA3-3617-65CF8C1C0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92D91-3061-5ACD-4D4C-374AEF67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C7EF4-6F0F-F2FB-2D74-1D48FE60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7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FC35-86DB-B339-8FCB-C11F7CBE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037E3B-376C-88E3-71E5-8A173DE68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1212A-9127-2C00-9DE3-C5AA59E5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26460-E287-CC7A-40FC-B755D4C2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0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CC1A5-CD05-1947-728B-CDCEB9CD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A5750-A381-637E-C77A-83F088B2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CF02A-7C34-235D-88A9-52A23596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5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B5683-F37F-9CAB-34DB-326D86C2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BEAF2-BCAB-7172-F3C0-29E5726CD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BA382-24E3-A639-FE9B-BB8E59E35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B09D9-FFBB-3F5D-287B-057C4261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A070-27F8-FAAF-0256-1E0977471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E8CA2-C240-1ACA-98C7-5BA869A1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1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E61B-91E9-737E-D5EB-2DB6D5359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64C79D-D06D-7A68-125E-C2F499493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18696-D50E-BC59-4000-C9C619EEA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07231-4187-9D52-AE85-62D0D748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E2382-C229-403E-1A4F-2F8FC9C2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C70A3-8D04-2A02-A127-8A86BAA6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2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6AD52-7907-F4B2-A77A-EA898894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78A72-C03B-66AD-E9C6-0359F945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C7ACB-45C2-0DAD-CEE5-F4A7BBBE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6E11E-D443-AD32-5B11-9D1A8CBA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F518E-3735-1D22-D6EB-1E353AA6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7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2B14B-0540-FC8D-661D-381844A33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98C65-767C-E88C-2BFE-3993C3889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53662-8CB6-992F-D7D1-F6B18BC54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A7699-EDFF-FB36-C669-39379781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57DEB-034C-8856-D9E6-090408083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71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D879A3-5735-1D65-AB09-3746AE24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8953-7183-2053-A57B-24191C3A5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45077-5756-F732-E94B-5DC0F562B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237A9-7A1A-44C6-94AE-4B8771F19CB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36777-92B0-B77C-573F-1D759800D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C7B4C-C7BF-BB7A-EEC2-83C636433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37254-A53D-4D9C-9572-FAD8EA38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6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7;p60">
            <a:extLst>
              <a:ext uri="{FF2B5EF4-FFF2-40B4-BE49-F238E27FC236}">
                <a16:creationId xmlns:a16="http://schemas.microsoft.com/office/drawing/2014/main" id="{A8FBC570-A7C4-BC33-5617-76B6FF1A0350}"/>
              </a:ext>
            </a:extLst>
          </p:cNvPr>
          <p:cNvSpPr txBox="1"/>
          <p:nvPr/>
        </p:nvSpPr>
        <p:spPr>
          <a:xfrm>
            <a:off x="879605" y="250472"/>
            <a:ext cx="10515600" cy="55399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2040502050405020303" pitchFamily="18" charset="0"/>
                <a:ea typeface="Cambria" panose="02040503050406030204" pitchFamily="18" charset="0"/>
                <a:cs typeface="+mn-cs"/>
              </a:rPr>
              <a:t>Organization Chart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12B3B77-BE04-4A84-44A3-87DB4BDD7364}"/>
              </a:ext>
            </a:extLst>
          </p:cNvPr>
          <p:cNvSpPr/>
          <p:nvPr/>
        </p:nvSpPr>
        <p:spPr>
          <a:xfrm flipH="1">
            <a:off x="6819088" y="3650205"/>
            <a:ext cx="833349" cy="1110183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347" h="391885">
                <a:moveTo>
                  <a:pt x="0" y="0"/>
                </a:moveTo>
                <a:lnTo>
                  <a:pt x="0" y="177281"/>
                </a:lnTo>
                <a:lnTo>
                  <a:pt x="2239347" y="177281"/>
                </a:lnTo>
                <a:lnTo>
                  <a:pt x="2239347" y="39188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E5B364-1B2F-5190-A1F5-B6A5608D6447}"/>
              </a:ext>
            </a:extLst>
          </p:cNvPr>
          <p:cNvSpPr/>
          <p:nvPr/>
        </p:nvSpPr>
        <p:spPr>
          <a:xfrm>
            <a:off x="7652437" y="3670624"/>
            <a:ext cx="800893" cy="1070308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347" h="391885">
                <a:moveTo>
                  <a:pt x="0" y="0"/>
                </a:moveTo>
                <a:lnTo>
                  <a:pt x="0" y="177281"/>
                </a:lnTo>
                <a:lnTo>
                  <a:pt x="2239347" y="177281"/>
                </a:lnTo>
                <a:lnTo>
                  <a:pt x="2239347" y="39188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A127A71-4219-42E8-C0AE-BE6F09FDE98E}"/>
              </a:ext>
            </a:extLst>
          </p:cNvPr>
          <p:cNvSpPr/>
          <p:nvPr/>
        </p:nvSpPr>
        <p:spPr>
          <a:xfrm>
            <a:off x="29184" y="5098130"/>
            <a:ext cx="1631960" cy="36881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rgbClr val="2CACB8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Data Modelling Director</a:t>
            </a:r>
          </a:p>
        </p:txBody>
      </p:sp>
      <p:sp>
        <p:nvSpPr>
          <p:cNvPr id="6" name="Google Shape;1379;p28">
            <a:extLst>
              <a:ext uri="{FF2B5EF4-FFF2-40B4-BE49-F238E27FC236}">
                <a16:creationId xmlns:a16="http://schemas.microsoft.com/office/drawing/2014/main" id="{34DC35DE-C90E-7C03-A81C-18A4433BE766}"/>
              </a:ext>
            </a:extLst>
          </p:cNvPr>
          <p:cNvSpPr/>
          <p:nvPr/>
        </p:nvSpPr>
        <p:spPr>
          <a:xfrm>
            <a:off x="124968" y="4818756"/>
            <a:ext cx="1509277" cy="25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Evgenii Tkachenko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180AC7-19C4-A6F8-F8E0-EEF1BFBD921E}"/>
              </a:ext>
            </a:extLst>
          </p:cNvPr>
          <p:cNvSpPr/>
          <p:nvPr/>
        </p:nvSpPr>
        <p:spPr>
          <a:xfrm>
            <a:off x="5828955" y="2147840"/>
            <a:ext cx="1532535" cy="566132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  <a:gd name="connsiteX0" fmla="*/ 0 w 2239347"/>
              <a:gd name="connsiteY0" fmla="*/ 0 h 226515"/>
              <a:gd name="connsiteX1" fmla="*/ 0 w 2239347"/>
              <a:gd name="connsiteY1" fmla="*/ 11911 h 226515"/>
              <a:gd name="connsiteX2" fmla="*/ 2239347 w 2239347"/>
              <a:gd name="connsiteY2" fmla="*/ 11911 h 226515"/>
              <a:gd name="connsiteX3" fmla="*/ 2239347 w 2239347"/>
              <a:gd name="connsiteY3" fmla="*/ 226515 h 226515"/>
              <a:gd name="connsiteX0" fmla="*/ 0 w 2239347"/>
              <a:gd name="connsiteY0" fmla="*/ 0 h 276576"/>
              <a:gd name="connsiteX1" fmla="*/ 28428 w 2239347"/>
              <a:gd name="connsiteY1" fmla="*/ 276576 h 276576"/>
              <a:gd name="connsiteX2" fmla="*/ 2239347 w 2239347"/>
              <a:gd name="connsiteY2" fmla="*/ 11911 h 276576"/>
              <a:gd name="connsiteX3" fmla="*/ 2239347 w 2239347"/>
              <a:gd name="connsiteY3" fmla="*/ 226515 h 276576"/>
              <a:gd name="connsiteX0" fmla="*/ 0 w 2239347"/>
              <a:gd name="connsiteY0" fmla="*/ 0 h 226515"/>
              <a:gd name="connsiteX1" fmla="*/ 2239347 w 2239347"/>
              <a:gd name="connsiteY1" fmla="*/ 11911 h 226515"/>
              <a:gd name="connsiteX2" fmla="*/ 2239347 w 2239347"/>
              <a:gd name="connsiteY2" fmla="*/ 226515 h 226515"/>
              <a:gd name="connsiteX0" fmla="*/ 0 w 2239347"/>
              <a:gd name="connsiteY0" fmla="*/ 0 h 226515"/>
              <a:gd name="connsiteX1" fmla="*/ 2239347 w 2239347"/>
              <a:gd name="connsiteY1" fmla="*/ 234 h 226515"/>
              <a:gd name="connsiteX2" fmla="*/ 2239347 w 2239347"/>
              <a:gd name="connsiteY2" fmla="*/ 226515 h 226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9347" h="226515">
                <a:moveTo>
                  <a:pt x="0" y="0"/>
                </a:moveTo>
                <a:lnTo>
                  <a:pt x="2239347" y="234"/>
                </a:lnTo>
                <a:lnTo>
                  <a:pt x="2239347" y="22651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B8D51CD-E66B-ECD9-F947-9438529DA038}"/>
              </a:ext>
            </a:extLst>
          </p:cNvPr>
          <p:cNvSpPr/>
          <p:nvPr/>
        </p:nvSpPr>
        <p:spPr>
          <a:xfrm flipH="1">
            <a:off x="1361868" y="1663881"/>
            <a:ext cx="4617777" cy="1066306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347" h="391885">
                <a:moveTo>
                  <a:pt x="0" y="0"/>
                </a:moveTo>
                <a:lnTo>
                  <a:pt x="0" y="177281"/>
                </a:lnTo>
                <a:lnTo>
                  <a:pt x="2239347" y="177281"/>
                </a:lnTo>
                <a:lnTo>
                  <a:pt x="2239347" y="39188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E3A8C3-17F0-F93A-CDE7-8EFA899A26A7}"/>
              </a:ext>
            </a:extLst>
          </p:cNvPr>
          <p:cNvSpPr/>
          <p:nvPr/>
        </p:nvSpPr>
        <p:spPr>
          <a:xfrm>
            <a:off x="5365491" y="1329107"/>
            <a:ext cx="1823248" cy="39963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Chief Product &amp; Analytics Officer</a:t>
            </a:r>
          </a:p>
        </p:txBody>
      </p:sp>
      <p:sp>
        <p:nvSpPr>
          <p:cNvPr id="11" name="Google Shape;1379;p28">
            <a:extLst>
              <a:ext uri="{FF2B5EF4-FFF2-40B4-BE49-F238E27FC236}">
                <a16:creationId xmlns:a16="http://schemas.microsoft.com/office/drawing/2014/main" id="{60CE9CD4-F66C-A0AE-20F7-EFC3DAD8E7A3}"/>
              </a:ext>
            </a:extLst>
          </p:cNvPr>
          <p:cNvSpPr/>
          <p:nvPr/>
        </p:nvSpPr>
        <p:spPr>
          <a:xfrm>
            <a:off x="5673956" y="1025207"/>
            <a:ext cx="1106621" cy="28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Molly Poppie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2" name="Google Shape;1379;p28">
            <a:extLst>
              <a:ext uri="{FF2B5EF4-FFF2-40B4-BE49-F238E27FC236}">
                <a16:creationId xmlns:a16="http://schemas.microsoft.com/office/drawing/2014/main" id="{7DE7EEE3-9B8C-06BF-B3F5-03EDCF08ACB8}"/>
              </a:ext>
            </a:extLst>
          </p:cNvPr>
          <p:cNvSpPr/>
          <p:nvPr/>
        </p:nvSpPr>
        <p:spPr>
          <a:xfrm>
            <a:off x="532117" y="2830887"/>
            <a:ext cx="1491236" cy="174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Brodie Oldham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95A21BD-465B-46C0-0431-3383FC95FFA9}"/>
              </a:ext>
            </a:extLst>
          </p:cNvPr>
          <p:cNvSpPr/>
          <p:nvPr/>
        </p:nvSpPr>
        <p:spPr>
          <a:xfrm>
            <a:off x="209802" y="3085379"/>
            <a:ext cx="2027559" cy="53888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chemeClr val="tx2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VP, Commercial Data Science &amp; Analytical Consulting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39C0B6-C1B2-10F4-9DE7-258568A85962}"/>
              </a:ext>
            </a:extLst>
          </p:cNvPr>
          <p:cNvCxnSpPr>
            <a:cxnSpLocks/>
          </p:cNvCxnSpPr>
          <p:nvPr/>
        </p:nvCxnSpPr>
        <p:spPr>
          <a:xfrm>
            <a:off x="4104388" y="2149813"/>
            <a:ext cx="0" cy="580374"/>
          </a:xfrm>
          <a:prstGeom prst="straightConnector1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DC448-12A7-90FF-1FD1-46B312B0AB96}"/>
              </a:ext>
            </a:extLst>
          </p:cNvPr>
          <p:cNvSpPr/>
          <p:nvPr/>
        </p:nvSpPr>
        <p:spPr>
          <a:xfrm>
            <a:off x="5673956" y="1025207"/>
            <a:ext cx="1106621" cy="287667"/>
          </a:xfrm>
          <a:prstGeom prst="rect">
            <a:avLst/>
          </a:prstGeom>
          <a:noFill/>
          <a:ln w="19050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4DB03E-85E1-A763-3EC0-1EC9B00DB3AD}"/>
              </a:ext>
            </a:extLst>
          </p:cNvPr>
          <p:cNvSpPr/>
          <p:nvPr/>
        </p:nvSpPr>
        <p:spPr>
          <a:xfrm>
            <a:off x="561301" y="2780537"/>
            <a:ext cx="1423141" cy="273948"/>
          </a:xfrm>
          <a:prstGeom prst="rect">
            <a:avLst/>
          </a:prstGeom>
          <a:noFill/>
          <a:ln w="19050">
            <a:solidFill>
              <a:srgbClr val="591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1379;p28">
            <a:extLst>
              <a:ext uri="{FF2B5EF4-FFF2-40B4-BE49-F238E27FC236}">
                <a16:creationId xmlns:a16="http://schemas.microsoft.com/office/drawing/2014/main" id="{B08B9B91-6415-8806-76DA-880A1BA706F7}"/>
              </a:ext>
            </a:extLst>
          </p:cNvPr>
          <p:cNvSpPr/>
          <p:nvPr/>
        </p:nvSpPr>
        <p:spPr>
          <a:xfrm>
            <a:off x="3456904" y="2827644"/>
            <a:ext cx="1491236" cy="174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Mark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Soffietti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6CC57F-54B4-D625-AC86-AAB373BDF5AE}"/>
              </a:ext>
            </a:extLst>
          </p:cNvPr>
          <p:cNvSpPr/>
          <p:nvPr/>
        </p:nvSpPr>
        <p:spPr>
          <a:xfrm>
            <a:off x="3134589" y="3082136"/>
            <a:ext cx="2027559" cy="53888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chemeClr val="tx2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Senior Director, </a:t>
            </a:r>
          </a:p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Organization Effectiveness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94561-605F-AEA1-A3C0-B6FE766C71DA}"/>
              </a:ext>
            </a:extLst>
          </p:cNvPr>
          <p:cNvSpPr/>
          <p:nvPr/>
        </p:nvSpPr>
        <p:spPr>
          <a:xfrm>
            <a:off x="3486088" y="2777294"/>
            <a:ext cx="1423141" cy="273948"/>
          </a:xfrm>
          <a:prstGeom prst="rect">
            <a:avLst/>
          </a:prstGeom>
          <a:noFill/>
          <a:ln w="19050">
            <a:solidFill>
              <a:srgbClr val="591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1379;p28">
            <a:extLst>
              <a:ext uri="{FF2B5EF4-FFF2-40B4-BE49-F238E27FC236}">
                <a16:creationId xmlns:a16="http://schemas.microsoft.com/office/drawing/2014/main" id="{F9FF2234-F164-0A01-7EDE-31C551428FF3}"/>
              </a:ext>
            </a:extLst>
          </p:cNvPr>
          <p:cNvSpPr/>
          <p:nvPr/>
        </p:nvSpPr>
        <p:spPr>
          <a:xfrm>
            <a:off x="6615161" y="2834128"/>
            <a:ext cx="1491236" cy="174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Julius Heim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6264926-9E66-C025-E7B6-92F8AE094F56}"/>
              </a:ext>
            </a:extLst>
          </p:cNvPr>
          <p:cNvSpPr/>
          <p:nvPr/>
        </p:nvSpPr>
        <p:spPr>
          <a:xfrm>
            <a:off x="6292846" y="3088620"/>
            <a:ext cx="2102123" cy="53888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chemeClr val="tx2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VP of Analytics Product Build, Innovation &amp; Scores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9C11F7-E481-3420-9831-50E302CAAEAA}"/>
              </a:ext>
            </a:extLst>
          </p:cNvPr>
          <p:cNvSpPr/>
          <p:nvPr/>
        </p:nvSpPr>
        <p:spPr>
          <a:xfrm>
            <a:off x="6644345" y="2783778"/>
            <a:ext cx="1423141" cy="273948"/>
          </a:xfrm>
          <a:prstGeom prst="rect">
            <a:avLst/>
          </a:prstGeom>
          <a:noFill/>
          <a:ln w="19050">
            <a:solidFill>
              <a:srgbClr val="591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EED14A4-6FAA-0CA5-AAEB-8BCCC3C9CD59}"/>
              </a:ext>
            </a:extLst>
          </p:cNvPr>
          <p:cNvSpPr/>
          <p:nvPr/>
        </p:nvSpPr>
        <p:spPr>
          <a:xfrm>
            <a:off x="7361490" y="2154324"/>
            <a:ext cx="2885877" cy="566132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  <a:gd name="connsiteX0" fmla="*/ 0 w 2239347"/>
              <a:gd name="connsiteY0" fmla="*/ 0 h 226515"/>
              <a:gd name="connsiteX1" fmla="*/ 0 w 2239347"/>
              <a:gd name="connsiteY1" fmla="*/ 11911 h 226515"/>
              <a:gd name="connsiteX2" fmla="*/ 2239347 w 2239347"/>
              <a:gd name="connsiteY2" fmla="*/ 11911 h 226515"/>
              <a:gd name="connsiteX3" fmla="*/ 2239347 w 2239347"/>
              <a:gd name="connsiteY3" fmla="*/ 226515 h 226515"/>
              <a:gd name="connsiteX0" fmla="*/ 0 w 2239347"/>
              <a:gd name="connsiteY0" fmla="*/ 0 h 276576"/>
              <a:gd name="connsiteX1" fmla="*/ 28428 w 2239347"/>
              <a:gd name="connsiteY1" fmla="*/ 276576 h 276576"/>
              <a:gd name="connsiteX2" fmla="*/ 2239347 w 2239347"/>
              <a:gd name="connsiteY2" fmla="*/ 11911 h 276576"/>
              <a:gd name="connsiteX3" fmla="*/ 2239347 w 2239347"/>
              <a:gd name="connsiteY3" fmla="*/ 226515 h 276576"/>
              <a:gd name="connsiteX0" fmla="*/ 0 w 2239347"/>
              <a:gd name="connsiteY0" fmla="*/ 0 h 226515"/>
              <a:gd name="connsiteX1" fmla="*/ 2239347 w 2239347"/>
              <a:gd name="connsiteY1" fmla="*/ 11911 h 226515"/>
              <a:gd name="connsiteX2" fmla="*/ 2239347 w 2239347"/>
              <a:gd name="connsiteY2" fmla="*/ 226515 h 226515"/>
              <a:gd name="connsiteX0" fmla="*/ 0 w 2239347"/>
              <a:gd name="connsiteY0" fmla="*/ 0 h 226515"/>
              <a:gd name="connsiteX1" fmla="*/ 2239347 w 2239347"/>
              <a:gd name="connsiteY1" fmla="*/ 234 h 226515"/>
              <a:gd name="connsiteX2" fmla="*/ 2239347 w 2239347"/>
              <a:gd name="connsiteY2" fmla="*/ 226515 h 226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9347" h="226515">
                <a:moveTo>
                  <a:pt x="0" y="0"/>
                </a:moveTo>
                <a:lnTo>
                  <a:pt x="2239347" y="234"/>
                </a:lnTo>
                <a:lnTo>
                  <a:pt x="2239347" y="22651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sp>
        <p:nvSpPr>
          <p:cNvPr id="24" name="Google Shape;1379;p28">
            <a:extLst>
              <a:ext uri="{FF2B5EF4-FFF2-40B4-BE49-F238E27FC236}">
                <a16:creationId xmlns:a16="http://schemas.microsoft.com/office/drawing/2014/main" id="{B9190137-7B74-B7A7-7E87-4EBA74489E66}"/>
              </a:ext>
            </a:extLst>
          </p:cNvPr>
          <p:cNvSpPr/>
          <p:nvPr/>
        </p:nvSpPr>
        <p:spPr>
          <a:xfrm>
            <a:off x="9501038" y="2840612"/>
            <a:ext cx="1491236" cy="174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Clifford Baseler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7A90802-C4BD-1EA4-952C-B4A84254775B}"/>
              </a:ext>
            </a:extLst>
          </p:cNvPr>
          <p:cNvSpPr/>
          <p:nvPr/>
        </p:nvSpPr>
        <p:spPr>
          <a:xfrm>
            <a:off x="9178723" y="3095104"/>
            <a:ext cx="2102123" cy="53888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chemeClr val="tx2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VP – Analytics Consulting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CAC70E-F550-80EA-81F9-8DBBEF30CEB0}"/>
              </a:ext>
            </a:extLst>
          </p:cNvPr>
          <p:cNvSpPr/>
          <p:nvPr/>
        </p:nvSpPr>
        <p:spPr>
          <a:xfrm>
            <a:off x="9530222" y="2790262"/>
            <a:ext cx="1423141" cy="273948"/>
          </a:xfrm>
          <a:prstGeom prst="rect">
            <a:avLst/>
          </a:prstGeom>
          <a:noFill/>
          <a:ln w="19050">
            <a:solidFill>
              <a:srgbClr val="591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3161E7-B56D-AAD9-D06F-529EDF90AA94}"/>
              </a:ext>
            </a:extLst>
          </p:cNvPr>
          <p:cNvSpPr/>
          <p:nvPr/>
        </p:nvSpPr>
        <p:spPr>
          <a:xfrm>
            <a:off x="124968" y="4803575"/>
            <a:ext cx="1423141" cy="273948"/>
          </a:xfrm>
          <a:prstGeom prst="rect">
            <a:avLst/>
          </a:prstGeom>
          <a:noFill/>
          <a:ln w="19050">
            <a:solidFill>
              <a:srgbClr val="2CAC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167ED7B-9426-E1EE-0485-E45C35718DFA}"/>
              </a:ext>
            </a:extLst>
          </p:cNvPr>
          <p:cNvSpPr/>
          <p:nvPr/>
        </p:nvSpPr>
        <p:spPr>
          <a:xfrm>
            <a:off x="1961752" y="5094889"/>
            <a:ext cx="1631960" cy="36881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rgbClr val="2CACB8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Data Modelling Director</a:t>
            </a:r>
          </a:p>
        </p:txBody>
      </p:sp>
      <p:sp>
        <p:nvSpPr>
          <p:cNvPr id="29" name="Google Shape;1379;p28">
            <a:extLst>
              <a:ext uri="{FF2B5EF4-FFF2-40B4-BE49-F238E27FC236}">
                <a16:creationId xmlns:a16="http://schemas.microsoft.com/office/drawing/2014/main" id="{0D1C84C2-7899-3D16-AB0C-BA5B764DE892}"/>
              </a:ext>
            </a:extLst>
          </p:cNvPr>
          <p:cNvSpPr/>
          <p:nvPr/>
        </p:nvSpPr>
        <p:spPr>
          <a:xfrm>
            <a:off x="2300588" y="4815515"/>
            <a:ext cx="1000673" cy="25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Sagar Bathla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B31A50-A8CB-8202-B5DE-8AA9A64363F4}"/>
              </a:ext>
            </a:extLst>
          </p:cNvPr>
          <p:cNvSpPr/>
          <p:nvPr/>
        </p:nvSpPr>
        <p:spPr>
          <a:xfrm>
            <a:off x="2057536" y="4800334"/>
            <a:ext cx="1423141" cy="273948"/>
          </a:xfrm>
          <a:prstGeom prst="rect">
            <a:avLst/>
          </a:prstGeom>
          <a:noFill/>
          <a:ln w="19050">
            <a:solidFill>
              <a:srgbClr val="2CAC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894D408-4BDB-6D42-CF47-2B5370219EA4}"/>
              </a:ext>
            </a:extLst>
          </p:cNvPr>
          <p:cNvSpPr/>
          <p:nvPr/>
        </p:nvSpPr>
        <p:spPr>
          <a:xfrm flipH="1">
            <a:off x="885215" y="3655159"/>
            <a:ext cx="749029" cy="1124568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347" h="391885">
                <a:moveTo>
                  <a:pt x="0" y="0"/>
                </a:moveTo>
                <a:lnTo>
                  <a:pt x="0" y="177281"/>
                </a:lnTo>
                <a:lnTo>
                  <a:pt x="2239347" y="177281"/>
                </a:lnTo>
                <a:lnTo>
                  <a:pt x="2239347" y="39188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7806ED2-FCC4-D92A-4969-787049D4D1EE}"/>
              </a:ext>
            </a:extLst>
          </p:cNvPr>
          <p:cNvSpPr/>
          <p:nvPr/>
        </p:nvSpPr>
        <p:spPr>
          <a:xfrm>
            <a:off x="1635662" y="4165072"/>
            <a:ext cx="1214542" cy="595316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  <a:gd name="connsiteX0" fmla="*/ 0 w 2239347"/>
              <a:gd name="connsiteY0" fmla="*/ 0 h 226515"/>
              <a:gd name="connsiteX1" fmla="*/ 0 w 2239347"/>
              <a:gd name="connsiteY1" fmla="*/ 11911 h 226515"/>
              <a:gd name="connsiteX2" fmla="*/ 2239347 w 2239347"/>
              <a:gd name="connsiteY2" fmla="*/ 11911 h 226515"/>
              <a:gd name="connsiteX3" fmla="*/ 2239347 w 2239347"/>
              <a:gd name="connsiteY3" fmla="*/ 226515 h 226515"/>
              <a:gd name="connsiteX0" fmla="*/ 0 w 2239347"/>
              <a:gd name="connsiteY0" fmla="*/ 0 h 276576"/>
              <a:gd name="connsiteX1" fmla="*/ 28428 w 2239347"/>
              <a:gd name="connsiteY1" fmla="*/ 276576 h 276576"/>
              <a:gd name="connsiteX2" fmla="*/ 2239347 w 2239347"/>
              <a:gd name="connsiteY2" fmla="*/ 11911 h 276576"/>
              <a:gd name="connsiteX3" fmla="*/ 2239347 w 2239347"/>
              <a:gd name="connsiteY3" fmla="*/ 226515 h 276576"/>
              <a:gd name="connsiteX0" fmla="*/ 0 w 2239347"/>
              <a:gd name="connsiteY0" fmla="*/ 0 h 226515"/>
              <a:gd name="connsiteX1" fmla="*/ 2239347 w 2239347"/>
              <a:gd name="connsiteY1" fmla="*/ 11911 h 226515"/>
              <a:gd name="connsiteX2" fmla="*/ 2239347 w 2239347"/>
              <a:gd name="connsiteY2" fmla="*/ 226515 h 226515"/>
              <a:gd name="connsiteX0" fmla="*/ 0 w 2239347"/>
              <a:gd name="connsiteY0" fmla="*/ 0 h 226515"/>
              <a:gd name="connsiteX1" fmla="*/ 2239347 w 2239347"/>
              <a:gd name="connsiteY1" fmla="*/ 234 h 226515"/>
              <a:gd name="connsiteX2" fmla="*/ 2239347 w 2239347"/>
              <a:gd name="connsiteY2" fmla="*/ 226515 h 226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9347" h="226515">
                <a:moveTo>
                  <a:pt x="0" y="0"/>
                </a:moveTo>
                <a:lnTo>
                  <a:pt x="2239347" y="234"/>
                </a:lnTo>
                <a:lnTo>
                  <a:pt x="2239347" y="22651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69E146F-BC31-56B9-9E4C-9A8822E20FF4}"/>
              </a:ext>
            </a:extLst>
          </p:cNvPr>
          <p:cNvCxnSpPr>
            <a:cxnSpLocks/>
            <a:endCxn id="36" idx="0"/>
          </p:cNvCxnSpPr>
          <p:nvPr/>
        </p:nvCxnSpPr>
        <p:spPr>
          <a:xfrm rot="16200000" flipH="1">
            <a:off x="3789149" y="3894301"/>
            <a:ext cx="1126464" cy="6791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ED50D86-2C23-130E-3666-C920FAC16831}"/>
              </a:ext>
            </a:extLst>
          </p:cNvPr>
          <p:cNvSpPr/>
          <p:nvPr/>
        </p:nvSpPr>
        <p:spPr>
          <a:xfrm>
            <a:off x="3884582" y="5091644"/>
            <a:ext cx="1631960" cy="36881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rgbClr val="2CACB8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Software Staff Engineer</a:t>
            </a:r>
          </a:p>
        </p:txBody>
      </p:sp>
      <p:sp>
        <p:nvSpPr>
          <p:cNvPr id="35" name="Google Shape;1379;p28">
            <a:extLst>
              <a:ext uri="{FF2B5EF4-FFF2-40B4-BE49-F238E27FC236}">
                <a16:creationId xmlns:a16="http://schemas.microsoft.com/office/drawing/2014/main" id="{2F481FC0-40D7-B2FC-3EB3-F98941343748}"/>
              </a:ext>
            </a:extLst>
          </p:cNvPr>
          <p:cNvSpPr/>
          <p:nvPr/>
        </p:nvSpPr>
        <p:spPr>
          <a:xfrm>
            <a:off x="4009410" y="4812270"/>
            <a:ext cx="1337929" cy="25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Anil Neerukonda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1476A9-E0C2-1343-7247-BA725AD2C9C1}"/>
              </a:ext>
            </a:extLst>
          </p:cNvPr>
          <p:cNvSpPr/>
          <p:nvPr/>
        </p:nvSpPr>
        <p:spPr>
          <a:xfrm>
            <a:off x="3980366" y="4797089"/>
            <a:ext cx="1423141" cy="273948"/>
          </a:xfrm>
          <a:prstGeom prst="rect">
            <a:avLst/>
          </a:prstGeom>
          <a:noFill/>
          <a:ln w="19050">
            <a:solidFill>
              <a:srgbClr val="2CAC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20DBD8E-89C3-6F32-0804-20E8427FC2A4}"/>
              </a:ext>
            </a:extLst>
          </p:cNvPr>
          <p:cNvSpPr/>
          <p:nvPr/>
        </p:nvSpPr>
        <p:spPr>
          <a:xfrm>
            <a:off x="5826874" y="5078668"/>
            <a:ext cx="1631960" cy="36881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rgbClr val="2CACB8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Director – Data Science</a:t>
            </a:r>
          </a:p>
        </p:txBody>
      </p:sp>
      <p:sp>
        <p:nvSpPr>
          <p:cNvPr id="38" name="Google Shape;1379;p28">
            <a:extLst>
              <a:ext uri="{FF2B5EF4-FFF2-40B4-BE49-F238E27FC236}">
                <a16:creationId xmlns:a16="http://schemas.microsoft.com/office/drawing/2014/main" id="{892431B4-D6E5-93B6-40E0-86F341A223D8}"/>
              </a:ext>
            </a:extLst>
          </p:cNvPr>
          <p:cNvSpPr/>
          <p:nvPr/>
        </p:nvSpPr>
        <p:spPr>
          <a:xfrm>
            <a:off x="5951702" y="4799294"/>
            <a:ext cx="1337929" cy="25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Henry Wu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AE5923-008F-4385-8CBD-AC112757616C}"/>
              </a:ext>
            </a:extLst>
          </p:cNvPr>
          <p:cNvSpPr/>
          <p:nvPr/>
        </p:nvSpPr>
        <p:spPr>
          <a:xfrm>
            <a:off x="5922658" y="4784113"/>
            <a:ext cx="1423141" cy="273948"/>
          </a:xfrm>
          <a:prstGeom prst="rect">
            <a:avLst/>
          </a:prstGeom>
          <a:noFill/>
          <a:ln w="19050">
            <a:solidFill>
              <a:srgbClr val="2CAC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6409016-5AD5-1FEE-B467-F960491B019C}"/>
              </a:ext>
            </a:extLst>
          </p:cNvPr>
          <p:cNvSpPr/>
          <p:nvPr/>
        </p:nvSpPr>
        <p:spPr>
          <a:xfrm>
            <a:off x="7652437" y="5085153"/>
            <a:ext cx="1631960" cy="36881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rgbClr val="2CACB8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Director – Data Science</a:t>
            </a:r>
          </a:p>
        </p:txBody>
      </p:sp>
      <p:sp>
        <p:nvSpPr>
          <p:cNvPr id="41" name="Google Shape;1379;p28">
            <a:extLst>
              <a:ext uri="{FF2B5EF4-FFF2-40B4-BE49-F238E27FC236}">
                <a16:creationId xmlns:a16="http://schemas.microsoft.com/office/drawing/2014/main" id="{DC94EC99-20FF-620D-90AF-EDF3AAAF562B}"/>
              </a:ext>
            </a:extLst>
          </p:cNvPr>
          <p:cNvSpPr/>
          <p:nvPr/>
        </p:nvSpPr>
        <p:spPr>
          <a:xfrm>
            <a:off x="7777265" y="4805779"/>
            <a:ext cx="1337929" cy="25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Natalie Flesher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E17E91-F888-B3B2-CB19-468D76D134DA}"/>
              </a:ext>
            </a:extLst>
          </p:cNvPr>
          <p:cNvSpPr/>
          <p:nvPr/>
        </p:nvSpPr>
        <p:spPr>
          <a:xfrm>
            <a:off x="7748221" y="4790598"/>
            <a:ext cx="1423141" cy="273948"/>
          </a:xfrm>
          <a:prstGeom prst="rect">
            <a:avLst/>
          </a:prstGeom>
          <a:noFill/>
          <a:ln w="19050">
            <a:solidFill>
              <a:srgbClr val="2CAC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E72E51F-D7FE-0808-FCBA-30BDC74A25B3}"/>
              </a:ext>
            </a:extLst>
          </p:cNvPr>
          <p:cNvSpPr/>
          <p:nvPr/>
        </p:nvSpPr>
        <p:spPr>
          <a:xfrm flipH="1">
            <a:off x="9588236" y="4648917"/>
            <a:ext cx="833349" cy="1110183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347" h="391885">
                <a:moveTo>
                  <a:pt x="0" y="0"/>
                </a:moveTo>
                <a:lnTo>
                  <a:pt x="0" y="177281"/>
                </a:lnTo>
                <a:lnTo>
                  <a:pt x="2239347" y="177281"/>
                </a:lnTo>
                <a:lnTo>
                  <a:pt x="2239347" y="39188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BBF381F-F753-1BBB-FF0B-4958DCDEC1A9}"/>
              </a:ext>
            </a:extLst>
          </p:cNvPr>
          <p:cNvSpPr/>
          <p:nvPr/>
        </p:nvSpPr>
        <p:spPr>
          <a:xfrm>
            <a:off x="10421585" y="3696572"/>
            <a:ext cx="800893" cy="2043072"/>
          </a:xfrm>
          <a:custGeom>
            <a:avLst/>
            <a:gdLst>
              <a:gd name="connsiteX0" fmla="*/ 0 w 2239347"/>
              <a:gd name="connsiteY0" fmla="*/ 0 h 391885"/>
              <a:gd name="connsiteX1" fmla="*/ 0 w 2239347"/>
              <a:gd name="connsiteY1" fmla="*/ 177281 h 391885"/>
              <a:gd name="connsiteX2" fmla="*/ 2239347 w 2239347"/>
              <a:gd name="connsiteY2" fmla="*/ 177281 h 391885"/>
              <a:gd name="connsiteX3" fmla="*/ 2239347 w 2239347"/>
              <a:gd name="connsiteY3" fmla="*/ 391885 h 391885"/>
              <a:gd name="connsiteX0" fmla="*/ 27200 w 2239347"/>
              <a:gd name="connsiteY0" fmla="*/ 0 h 716000"/>
              <a:gd name="connsiteX1" fmla="*/ 0 w 2239347"/>
              <a:gd name="connsiteY1" fmla="*/ 501396 h 716000"/>
              <a:gd name="connsiteX2" fmla="*/ 2239347 w 2239347"/>
              <a:gd name="connsiteY2" fmla="*/ 501396 h 716000"/>
              <a:gd name="connsiteX3" fmla="*/ 2239347 w 2239347"/>
              <a:gd name="connsiteY3" fmla="*/ 716000 h 716000"/>
              <a:gd name="connsiteX0" fmla="*/ 54400 w 2239347"/>
              <a:gd name="connsiteY0" fmla="*/ 0 h 748055"/>
              <a:gd name="connsiteX1" fmla="*/ 0 w 2239347"/>
              <a:gd name="connsiteY1" fmla="*/ 533451 h 748055"/>
              <a:gd name="connsiteX2" fmla="*/ 2239347 w 2239347"/>
              <a:gd name="connsiteY2" fmla="*/ 533451 h 748055"/>
              <a:gd name="connsiteX3" fmla="*/ 2239347 w 2239347"/>
              <a:gd name="connsiteY3" fmla="*/ 748055 h 74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347" h="748055">
                <a:moveTo>
                  <a:pt x="54400" y="0"/>
                </a:moveTo>
                <a:lnTo>
                  <a:pt x="0" y="533451"/>
                </a:lnTo>
                <a:lnTo>
                  <a:pt x="2239347" y="533451"/>
                </a:lnTo>
                <a:lnTo>
                  <a:pt x="2239347" y="748055"/>
                </a:lnTo>
              </a:path>
            </a:pathLst>
          </a:custGeom>
          <a:noFill/>
          <a:ln w="14097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Georgia" panose="02040502050405020303" pitchFamily="18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D4767FB-EE18-4EBD-BC48-41C074754047}"/>
              </a:ext>
            </a:extLst>
          </p:cNvPr>
          <p:cNvSpPr/>
          <p:nvPr/>
        </p:nvSpPr>
        <p:spPr>
          <a:xfrm>
            <a:off x="8673846" y="6067652"/>
            <a:ext cx="1631960" cy="36881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rgbClr val="2CACB8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Senior Director – Analytics Consulting</a:t>
            </a:r>
          </a:p>
        </p:txBody>
      </p:sp>
      <p:sp>
        <p:nvSpPr>
          <p:cNvPr id="46" name="Google Shape;1379;p28">
            <a:extLst>
              <a:ext uri="{FF2B5EF4-FFF2-40B4-BE49-F238E27FC236}">
                <a16:creationId xmlns:a16="http://schemas.microsoft.com/office/drawing/2014/main" id="{A7FD9BF1-1378-D1EA-F60F-4D509F9F93A7}"/>
              </a:ext>
            </a:extLst>
          </p:cNvPr>
          <p:cNvSpPr/>
          <p:nvPr/>
        </p:nvSpPr>
        <p:spPr>
          <a:xfrm>
            <a:off x="8798674" y="5788278"/>
            <a:ext cx="1337929" cy="25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Derek Ploor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84AD4B-1324-A640-4CB2-90282FCE83B5}"/>
              </a:ext>
            </a:extLst>
          </p:cNvPr>
          <p:cNvSpPr/>
          <p:nvPr/>
        </p:nvSpPr>
        <p:spPr>
          <a:xfrm>
            <a:off x="8769630" y="5773097"/>
            <a:ext cx="1423141" cy="273948"/>
          </a:xfrm>
          <a:prstGeom prst="rect">
            <a:avLst/>
          </a:prstGeom>
          <a:noFill/>
          <a:ln w="19050">
            <a:solidFill>
              <a:srgbClr val="2CAC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7A8B717-BC73-A594-53F1-EEDF06FF598E}"/>
              </a:ext>
            </a:extLst>
          </p:cNvPr>
          <p:cNvSpPr/>
          <p:nvPr/>
        </p:nvSpPr>
        <p:spPr>
          <a:xfrm>
            <a:off x="10499409" y="6074137"/>
            <a:ext cx="1631960" cy="368815"/>
          </a:xfrm>
          <a:custGeom>
            <a:avLst/>
            <a:gdLst>
              <a:gd name="connsiteX0" fmla="*/ 764086 w 1002531"/>
              <a:gd name="connsiteY0" fmla="*/ 0 h 182087"/>
              <a:gd name="connsiteX1" fmla="*/ 238446 w 1002531"/>
              <a:gd name="connsiteY1" fmla="*/ 0 h 182087"/>
              <a:gd name="connsiteX2" fmla="*/ 0 w 1002531"/>
              <a:gd name="connsiteY2" fmla="*/ 0 h 182087"/>
              <a:gd name="connsiteX3" fmla="*/ 0 w 1002531"/>
              <a:gd name="connsiteY3" fmla="*/ 182088 h 182087"/>
              <a:gd name="connsiteX4" fmla="*/ 1002531 w 1002531"/>
              <a:gd name="connsiteY4" fmla="*/ 182088 h 182087"/>
              <a:gd name="connsiteX5" fmla="*/ 1002531 w 1002531"/>
              <a:gd name="connsiteY5" fmla="*/ 0 h 182087"/>
              <a:gd name="connsiteX6" fmla="*/ 764086 w 1002531"/>
              <a:gd name="connsiteY6" fmla="*/ 0 h 18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30" h="182087">
                <a:moveTo>
                  <a:pt x="764086" y="0"/>
                </a:moveTo>
                <a:lnTo>
                  <a:pt x="238446" y="0"/>
                </a:lnTo>
                <a:lnTo>
                  <a:pt x="0" y="0"/>
                </a:lnTo>
                <a:lnTo>
                  <a:pt x="0" y="182088"/>
                </a:lnTo>
                <a:lnTo>
                  <a:pt x="1002531" y="182088"/>
                </a:lnTo>
                <a:lnTo>
                  <a:pt x="1002531" y="0"/>
                </a:lnTo>
                <a:lnTo>
                  <a:pt x="764086" y="0"/>
                </a:lnTo>
                <a:close/>
              </a:path>
            </a:pathLst>
          </a:custGeom>
          <a:solidFill>
            <a:srgbClr val="2CACB8"/>
          </a:solidFill>
          <a:ln w="11029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rPr>
              <a:t>Director – Machine Learning</a:t>
            </a:r>
          </a:p>
        </p:txBody>
      </p:sp>
      <p:sp>
        <p:nvSpPr>
          <p:cNvPr id="49" name="Google Shape;1379;p28">
            <a:extLst>
              <a:ext uri="{FF2B5EF4-FFF2-40B4-BE49-F238E27FC236}">
                <a16:creationId xmlns:a16="http://schemas.microsoft.com/office/drawing/2014/main" id="{CADEA3F8-6FD6-7A7E-E7D3-E582515D1E63}"/>
              </a:ext>
            </a:extLst>
          </p:cNvPr>
          <p:cNvSpPr/>
          <p:nvPr/>
        </p:nvSpPr>
        <p:spPr>
          <a:xfrm>
            <a:off x="10624237" y="5794763"/>
            <a:ext cx="1337929" cy="25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Fira Sans Extra Condensed Medium"/>
                <a:cs typeface="Fira Sans Extra Condensed Medium"/>
                <a:sym typeface="Fira Sans Extra Condensed Medium"/>
              </a:rPr>
              <a:t>Adam Lyko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44A363A-38C3-FE9C-F9F5-03580B3C0007}"/>
              </a:ext>
            </a:extLst>
          </p:cNvPr>
          <p:cNvSpPr/>
          <p:nvPr/>
        </p:nvSpPr>
        <p:spPr>
          <a:xfrm>
            <a:off x="10595193" y="5779582"/>
            <a:ext cx="1423141" cy="273948"/>
          </a:xfrm>
          <a:prstGeom prst="rect">
            <a:avLst/>
          </a:prstGeom>
          <a:noFill/>
          <a:ln w="19050">
            <a:solidFill>
              <a:srgbClr val="2CAC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D512838-CEFE-C0A9-5F98-C19DA3CED45A}"/>
              </a:ext>
            </a:extLst>
          </p:cNvPr>
          <p:cNvSpPr/>
          <p:nvPr/>
        </p:nvSpPr>
        <p:spPr>
          <a:xfrm>
            <a:off x="292746" y="5487231"/>
            <a:ext cx="1173719" cy="246221"/>
          </a:xfrm>
          <a:custGeom>
            <a:avLst/>
            <a:gdLst>
              <a:gd name="connsiteX0" fmla="*/ 0 w 676751"/>
              <a:gd name="connsiteY0" fmla="*/ 0 h 164782"/>
              <a:gd name="connsiteX1" fmla="*/ 676751 w 676751"/>
              <a:gd name="connsiteY1" fmla="*/ 0 h 164782"/>
              <a:gd name="connsiteX2" fmla="*/ 676751 w 676751"/>
              <a:gd name="connsiteY2" fmla="*/ 164782 h 164782"/>
              <a:gd name="connsiteX3" fmla="*/ 0 w 676751"/>
              <a:gd name="connsiteY3" fmla="*/ 164782 h 164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751" h="164782">
                <a:moveTo>
                  <a:pt x="0" y="0"/>
                </a:moveTo>
                <a:lnTo>
                  <a:pt x="676751" y="0"/>
                </a:lnTo>
                <a:lnTo>
                  <a:pt x="676751" y="164782"/>
                </a:lnTo>
                <a:lnTo>
                  <a:pt x="0" y="16478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Fira Sans Extra Condensed Medium"/>
              </a:rPr>
              <a:t>Resources - 4 </a:t>
            </a:r>
            <a:endParaRPr lang="en-IN" sz="1000" dirty="0">
              <a:solidFill>
                <a:schemeClr val="bg1"/>
              </a:solidFill>
              <a:latin typeface="Georgia" pitchFamily="18" charset="0"/>
              <a:ea typeface="Roboto" panose="020B0604020202020204" charset="0"/>
              <a:cs typeface="Roboto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C4C4410-15E7-8FC4-C602-1DE59F5084B3}"/>
              </a:ext>
            </a:extLst>
          </p:cNvPr>
          <p:cNvSpPr/>
          <p:nvPr/>
        </p:nvSpPr>
        <p:spPr>
          <a:xfrm>
            <a:off x="2303134" y="5483983"/>
            <a:ext cx="1173719" cy="246221"/>
          </a:xfrm>
          <a:custGeom>
            <a:avLst/>
            <a:gdLst>
              <a:gd name="connsiteX0" fmla="*/ 0 w 676751"/>
              <a:gd name="connsiteY0" fmla="*/ 0 h 164782"/>
              <a:gd name="connsiteX1" fmla="*/ 676751 w 676751"/>
              <a:gd name="connsiteY1" fmla="*/ 0 h 164782"/>
              <a:gd name="connsiteX2" fmla="*/ 676751 w 676751"/>
              <a:gd name="connsiteY2" fmla="*/ 164782 h 164782"/>
              <a:gd name="connsiteX3" fmla="*/ 0 w 676751"/>
              <a:gd name="connsiteY3" fmla="*/ 164782 h 164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751" h="164782">
                <a:moveTo>
                  <a:pt x="0" y="0"/>
                </a:moveTo>
                <a:lnTo>
                  <a:pt x="676751" y="0"/>
                </a:lnTo>
                <a:lnTo>
                  <a:pt x="676751" y="164782"/>
                </a:lnTo>
                <a:lnTo>
                  <a:pt x="0" y="16478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Fira Sans Extra Condensed Medium"/>
              </a:rPr>
              <a:t>Resources - 4 </a:t>
            </a:r>
            <a:endParaRPr lang="en-IN" sz="1000" dirty="0">
              <a:solidFill>
                <a:schemeClr val="bg1"/>
              </a:solidFill>
              <a:latin typeface="Georgia" pitchFamily="18" charset="0"/>
              <a:ea typeface="Roboto" panose="020B0604020202020204" charset="0"/>
              <a:cs typeface="Roboto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0CD82A2-3C77-4778-565E-772BDD0FC7B5}"/>
              </a:ext>
            </a:extLst>
          </p:cNvPr>
          <p:cNvSpPr/>
          <p:nvPr/>
        </p:nvSpPr>
        <p:spPr>
          <a:xfrm>
            <a:off x="4209763" y="5483983"/>
            <a:ext cx="1173719" cy="246221"/>
          </a:xfrm>
          <a:custGeom>
            <a:avLst/>
            <a:gdLst>
              <a:gd name="connsiteX0" fmla="*/ 0 w 676751"/>
              <a:gd name="connsiteY0" fmla="*/ 0 h 164782"/>
              <a:gd name="connsiteX1" fmla="*/ 676751 w 676751"/>
              <a:gd name="connsiteY1" fmla="*/ 0 h 164782"/>
              <a:gd name="connsiteX2" fmla="*/ 676751 w 676751"/>
              <a:gd name="connsiteY2" fmla="*/ 164782 h 164782"/>
              <a:gd name="connsiteX3" fmla="*/ 0 w 676751"/>
              <a:gd name="connsiteY3" fmla="*/ 164782 h 164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751" h="164782">
                <a:moveTo>
                  <a:pt x="0" y="0"/>
                </a:moveTo>
                <a:lnTo>
                  <a:pt x="676751" y="0"/>
                </a:lnTo>
                <a:lnTo>
                  <a:pt x="676751" y="164782"/>
                </a:lnTo>
                <a:lnTo>
                  <a:pt x="0" y="16478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Fira Sans Extra Condensed Medium"/>
              </a:rPr>
              <a:t>Resources - 3 </a:t>
            </a:r>
            <a:endParaRPr lang="en-IN" sz="1000" dirty="0">
              <a:solidFill>
                <a:schemeClr val="bg1"/>
              </a:solidFill>
              <a:latin typeface="Georgia" pitchFamily="18" charset="0"/>
              <a:ea typeface="Roboto" panose="020B0604020202020204" charset="0"/>
              <a:cs typeface="Roboto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9BEA4F-9234-B415-A9FF-200D1CC49F78}"/>
              </a:ext>
            </a:extLst>
          </p:cNvPr>
          <p:cNvSpPr/>
          <p:nvPr/>
        </p:nvSpPr>
        <p:spPr>
          <a:xfrm>
            <a:off x="6094558" y="5470135"/>
            <a:ext cx="1173719" cy="246221"/>
          </a:xfrm>
          <a:custGeom>
            <a:avLst/>
            <a:gdLst>
              <a:gd name="connsiteX0" fmla="*/ 0 w 676751"/>
              <a:gd name="connsiteY0" fmla="*/ 0 h 164782"/>
              <a:gd name="connsiteX1" fmla="*/ 676751 w 676751"/>
              <a:gd name="connsiteY1" fmla="*/ 0 h 164782"/>
              <a:gd name="connsiteX2" fmla="*/ 676751 w 676751"/>
              <a:gd name="connsiteY2" fmla="*/ 164782 h 164782"/>
              <a:gd name="connsiteX3" fmla="*/ 0 w 676751"/>
              <a:gd name="connsiteY3" fmla="*/ 164782 h 164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751" h="164782">
                <a:moveTo>
                  <a:pt x="0" y="0"/>
                </a:moveTo>
                <a:lnTo>
                  <a:pt x="676751" y="0"/>
                </a:lnTo>
                <a:lnTo>
                  <a:pt x="676751" y="164782"/>
                </a:lnTo>
                <a:lnTo>
                  <a:pt x="0" y="16478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Fira Sans Extra Condensed Medium"/>
              </a:rPr>
              <a:t>Resources - 4 </a:t>
            </a:r>
            <a:endParaRPr lang="en-IN" sz="1000" dirty="0">
              <a:solidFill>
                <a:schemeClr val="bg1"/>
              </a:solidFill>
              <a:latin typeface="Georgia" pitchFamily="18" charset="0"/>
              <a:ea typeface="Roboto" panose="020B0604020202020204" charset="0"/>
              <a:cs typeface="Roboto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9A3C904-1D6F-F89E-EAB3-0162064EE0A7}"/>
              </a:ext>
            </a:extLst>
          </p:cNvPr>
          <p:cNvSpPr/>
          <p:nvPr/>
        </p:nvSpPr>
        <p:spPr>
          <a:xfrm>
            <a:off x="7871480" y="5476615"/>
            <a:ext cx="1173719" cy="246221"/>
          </a:xfrm>
          <a:custGeom>
            <a:avLst/>
            <a:gdLst>
              <a:gd name="connsiteX0" fmla="*/ 0 w 676751"/>
              <a:gd name="connsiteY0" fmla="*/ 0 h 164782"/>
              <a:gd name="connsiteX1" fmla="*/ 676751 w 676751"/>
              <a:gd name="connsiteY1" fmla="*/ 0 h 164782"/>
              <a:gd name="connsiteX2" fmla="*/ 676751 w 676751"/>
              <a:gd name="connsiteY2" fmla="*/ 164782 h 164782"/>
              <a:gd name="connsiteX3" fmla="*/ 0 w 676751"/>
              <a:gd name="connsiteY3" fmla="*/ 164782 h 164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751" h="164782">
                <a:moveTo>
                  <a:pt x="0" y="0"/>
                </a:moveTo>
                <a:lnTo>
                  <a:pt x="676751" y="0"/>
                </a:lnTo>
                <a:lnTo>
                  <a:pt x="676751" y="164782"/>
                </a:lnTo>
                <a:lnTo>
                  <a:pt x="0" y="16478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Fira Sans Extra Condensed Medium"/>
              </a:rPr>
              <a:t>Resources - 6 </a:t>
            </a:r>
            <a:endParaRPr lang="en-IN" sz="1000" dirty="0">
              <a:solidFill>
                <a:schemeClr val="bg1"/>
              </a:solidFill>
              <a:latin typeface="Georgia" pitchFamily="18" charset="0"/>
              <a:ea typeface="Roboto" panose="020B0604020202020204" charset="0"/>
              <a:cs typeface="Roboto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E61F41A-A9C6-5EA4-D071-F7E7297D9508}"/>
              </a:ext>
            </a:extLst>
          </p:cNvPr>
          <p:cNvSpPr/>
          <p:nvPr/>
        </p:nvSpPr>
        <p:spPr>
          <a:xfrm>
            <a:off x="8914178" y="6466692"/>
            <a:ext cx="1173719" cy="246221"/>
          </a:xfrm>
          <a:custGeom>
            <a:avLst/>
            <a:gdLst>
              <a:gd name="connsiteX0" fmla="*/ 0 w 676751"/>
              <a:gd name="connsiteY0" fmla="*/ 0 h 164782"/>
              <a:gd name="connsiteX1" fmla="*/ 676751 w 676751"/>
              <a:gd name="connsiteY1" fmla="*/ 0 h 164782"/>
              <a:gd name="connsiteX2" fmla="*/ 676751 w 676751"/>
              <a:gd name="connsiteY2" fmla="*/ 164782 h 164782"/>
              <a:gd name="connsiteX3" fmla="*/ 0 w 676751"/>
              <a:gd name="connsiteY3" fmla="*/ 164782 h 164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751" h="164782">
                <a:moveTo>
                  <a:pt x="0" y="0"/>
                </a:moveTo>
                <a:lnTo>
                  <a:pt x="676751" y="0"/>
                </a:lnTo>
                <a:lnTo>
                  <a:pt x="676751" y="164782"/>
                </a:lnTo>
                <a:lnTo>
                  <a:pt x="0" y="16478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Fira Sans Extra Condensed Medium"/>
              </a:rPr>
              <a:t>Resources - 2 </a:t>
            </a:r>
            <a:endParaRPr lang="en-IN" sz="1000" dirty="0">
              <a:solidFill>
                <a:schemeClr val="bg1"/>
              </a:solidFill>
              <a:latin typeface="Georgia" pitchFamily="18" charset="0"/>
              <a:ea typeface="Roboto" panose="020B0604020202020204" charset="0"/>
              <a:cs typeface="Roboto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A5726927-7F1D-D03A-3D73-95946CE27396}"/>
              </a:ext>
            </a:extLst>
          </p:cNvPr>
          <p:cNvSpPr/>
          <p:nvPr/>
        </p:nvSpPr>
        <p:spPr>
          <a:xfrm>
            <a:off x="10706341" y="6466692"/>
            <a:ext cx="1173719" cy="246221"/>
          </a:xfrm>
          <a:custGeom>
            <a:avLst/>
            <a:gdLst>
              <a:gd name="connsiteX0" fmla="*/ 0 w 676751"/>
              <a:gd name="connsiteY0" fmla="*/ 0 h 164782"/>
              <a:gd name="connsiteX1" fmla="*/ 676751 w 676751"/>
              <a:gd name="connsiteY1" fmla="*/ 0 h 164782"/>
              <a:gd name="connsiteX2" fmla="*/ 676751 w 676751"/>
              <a:gd name="connsiteY2" fmla="*/ 164782 h 164782"/>
              <a:gd name="connsiteX3" fmla="*/ 0 w 676751"/>
              <a:gd name="connsiteY3" fmla="*/ 164782 h 164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751" h="164782">
                <a:moveTo>
                  <a:pt x="0" y="0"/>
                </a:moveTo>
                <a:lnTo>
                  <a:pt x="676751" y="0"/>
                </a:lnTo>
                <a:lnTo>
                  <a:pt x="676751" y="164782"/>
                </a:lnTo>
                <a:lnTo>
                  <a:pt x="0" y="16478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Georgia" panose="02040502050405020303" pitchFamily="18" charset="0"/>
                <a:ea typeface="Roboto"/>
                <a:cs typeface="Roboto"/>
                <a:sym typeface="Fira Sans Extra Condensed Medium"/>
              </a:rPr>
              <a:t>Resources - 2 </a:t>
            </a:r>
            <a:endParaRPr lang="en-IN" sz="1000" dirty="0">
              <a:solidFill>
                <a:schemeClr val="bg1"/>
              </a:solidFill>
              <a:latin typeface="Georgia" pitchFamily="18" charset="0"/>
              <a:ea typeface="Roboto" panose="020B0604020202020204" charset="0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81936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Georgia</vt:lpstr>
      <vt:lpstr>Office Theme</vt:lpstr>
      <vt:lpstr>PowerPoint Presentation</vt:lpstr>
    </vt:vector>
  </TitlesOfParts>
  <Company>Experian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Agarwal, Rahul</dc:creator>
  <cp:lastModifiedBy>Agarwal, Rahul</cp:lastModifiedBy>
  <cp:revision>1</cp:revision>
  <dcterms:created xsi:type="dcterms:W3CDTF">2025-11-14T12:27:50Z</dcterms:created>
  <dcterms:modified xsi:type="dcterms:W3CDTF">2025-11-14T12:28:53Z</dcterms:modified>
</cp:coreProperties>
</file>